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3900BE-E093-A2C5-E3C7-969F2E40EA55}" v="16" dt="2026-08-06T22:20:32.978"/>
    <p1510:client id="{F429A452-885F-DF8F-A9B2-74C2246A3D9F}" v="12" dt="2026-08-06T17:53:52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953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5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1737360" cy="3999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</a:t>
            </a:r>
            <a:endParaRPr lang="en-US" sz="440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— Agentic SDLC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Submission Template — Option 4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32918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71D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37490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 dirty="0">
                <a:solidFill>
                  <a:srgbClr val="075056"/>
                </a:solidFill>
                <a:latin typeface="Calibri"/>
                <a:ea typeface="Calibri"/>
                <a:cs typeface="Calibri"/>
              </a:rPr>
              <a:t>Option 4— </a:t>
            </a:r>
            <a:r>
              <a:rPr lang="en-US" sz="1400" dirty="0"/>
              <a:t>Payment Reconciliation Agent — Fintech / payments</a:t>
            </a:r>
            <a:endParaRPr lang="en-US" sz="1400" dirty="0">
              <a:solidFill>
                <a:srgbClr val="025F6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i="1">
                <a:solidFill>
                  <a:srgbClr val="71D8C5"/>
                </a:solidFill>
                <a:latin typeface="Calibri"/>
                <a:ea typeface="Calibri"/>
                <a:cs typeface="Calibri"/>
              </a:rPr>
              <a:t>Keep the option you are submitting; delete the other.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Name: </a:t>
            </a: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__Juan Felipe Reyes Garcia___     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Date: </a:t>
            </a: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___10/29/2026________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Perficient Global AI First Academy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Template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310896" cy="31089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91440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option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Option 1 (client work) or Option 2 (platform contribution) or Option 4 (AI Case Study). Fill every slide; delete instruction notes.</a:t>
            </a:r>
            <a:endParaRPr lang="en-US" sz="1300"/>
          </a:p>
        </p:txBody>
      </p:sp>
      <p:sp>
        <p:nvSpPr>
          <p:cNvPr id="7" name="Shape 4"/>
          <p:cNvSpPr/>
          <p:nvPr/>
        </p:nvSpPr>
        <p:spPr>
          <a:xfrm>
            <a:off x="457200" y="1709928"/>
            <a:ext cx="310896" cy="31089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709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914400" y="16642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at least 3 of 5 competencies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has 5 topics. Demonstrate a minimum of 3 with real evidence.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457200" y="2276856"/>
            <a:ext cx="310896" cy="31089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276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914400" y="223113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impact &amp; reusability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before/after and show whether others can reuse your work.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457200" y="2843784"/>
            <a:ext cx="310896" cy="310896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843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914400" y="279806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Self-rate honestly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topic 0–30 on the Self-Rating slide. Attach evidence for every claim.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457200" y="3410712"/>
            <a:ext cx="310896" cy="310896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914400" y="33649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your validator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named validator scores and signs off: Agree or Do not certify.</a:t>
            </a:r>
            <a:endParaRPr lang="en-US" sz="1300"/>
          </a:p>
        </p:txBody>
      </p:sp>
      <p:sp>
        <p:nvSpPr>
          <p:cNvPr id="19" name="Shape 16"/>
          <p:cNvSpPr/>
          <p:nvPr/>
        </p:nvSpPr>
        <p:spPr>
          <a:xfrm>
            <a:off x="457200" y="41605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to clear:  70 / 150 minimum</a:t>
            </a:r>
            <a:r>
              <a:rPr lang="en-US" sz="120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•  5 topics × 30 max each  •  minimum 3 topics demonstrated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Project Overview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 — Customer Project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/ client &amp; engagement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457200" y="1947672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1947672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45720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· AI solution · outcomes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278892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457200" y="3374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business impact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57200" y="363016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" y="3630168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470916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00600" y="1097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 — Platform Contribution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470916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contributed to</a:t>
            </a:r>
            <a:endParaRPr lang="en-US" sz="1200"/>
          </a:p>
        </p:txBody>
      </p:sp>
      <p:sp>
        <p:nvSpPr>
          <p:cNvPr id="18" name="Shape 15"/>
          <p:cNvSpPr/>
          <p:nvPr/>
        </p:nvSpPr>
        <p:spPr>
          <a:xfrm>
            <a:off x="4709160" y="1947672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18888" y="1947672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470916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/ innovation contributed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4709160" y="278892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18888" y="278892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23" name="Text 20"/>
          <p:cNvSpPr/>
          <p:nvPr/>
        </p:nvSpPr>
        <p:spPr>
          <a:xfrm>
            <a:off x="4709160" y="3374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Org-scale AI capability impact</a:t>
            </a:r>
            <a:endParaRPr lang="en-US" sz="1200"/>
          </a:p>
        </p:txBody>
      </p:sp>
      <p:sp>
        <p:nvSpPr>
          <p:cNvPr id="24" name="Shape 21"/>
          <p:cNvSpPr/>
          <p:nvPr/>
        </p:nvSpPr>
        <p:spPr>
          <a:xfrm>
            <a:off x="4709160" y="363016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18888" y="3630168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only the column for your option.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AI Approach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— one sentence: the repeatable outcome you wanted AI to deliver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r>
              <a:rPr lang="en-US" dirty="0"/>
              <a:t>Provide consistent and reliable support to the payment reconciliation process</a:t>
            </a:r>
          </a:p>
        </p:txBody>
      </p:sp>
      <p:sp>
        <p:nvSpPr>
          <p:cNvPr id="6" name="Text 3"/>
          <p:cNvSpPr/>
          <p:nvPr/>
        </p:nvSpPr>
        <p:spPr>
          <a:xfrm>
            <a:off x="566928" y="137160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4241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4241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51206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4879"/>
                </a:solidFill>
                <a:latin typeface="Arial" pitchFamily="34" charset="0"/>
                <a:cs typeface="Arial" pitchFamily="34" charset="-120"/>
              </a:rPr>
              <a:t>Business </a:t>
            </a:r>
            <a:r>
              <a:rPr lang="en-US" sz="1100" b="1" dirty="0" err="1">
                <a:solidFill>
                  <a:srgbClr val="024879"/>
                </a:solidFill>
                <a:latin typeface="Arial" pitchFamily="34" charset="0"/>
                <a:cs typeface="Arial" pitchFamily="34" charset="-120"/>
              </a:rPr>
              <a:t>knoledge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business scenarios and identify the key outcomes to deliver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14884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3405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3405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220370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22199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design a solution were the key outcomes are the top drivers of the solution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84048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42569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42569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389534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1363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support implementation of the proposed design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53212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1733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1733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/>
          </a:p>
        </p:txBody>
      </p:sp>
      <p:sp>
        <p:nvSpPr>
          <p:cNvPr id="25" name="Text 22"/>
          <p:cNvSpPr/>
          <p:nvPr/>
        </p:nvSpPr>
        <p:spPr>
          <a:xfrm>
            <a:off x="558698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0527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implementation and check if the key requirements are being meet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22376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80897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0897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/>
          </a:p>
        </p:txBody>
      </p:sp>
      <p:sp>
        <p:nvSpPr>
          <p:cNvPr id="30" name="Text 27"/>
          <p:cNvSpPr/>
          <p:nvPr/>
        </p:nvSpPr>
        <p:spPr>
          <a:xfrm>
            <a:off x="727862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29691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improve the solution to meet requirements or get improved features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steps to match your actual workflow.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→ After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5A6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The Manual Way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payment vs ledger data validation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took around 2 hours to get 24 payments validated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 was main issue, I made some mistakes following policy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Scenarios wrongly processed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0916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0916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The AI-Assisted Way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4800600" y="169164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used several prompt enhanced with provided policy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took around 30 minutes to process 24 payments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mistake for the whole 24 payments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of 75% in time saved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screenshot of your AI output on this slide.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Impact Scorecard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136454"/>
              </p:ext>
            </p:extLst>
          </p:nvPr>
        </p:nvGraphicFramePr>
        <p:xfrm>
          <a:off x="457200" y="1143000"/>
          <a:ext cx="7006717" cy="1783080"/>
        </p:xfrm>
        <a:graphic>
          <a:graphicData uri="http://schemas.openxmlformats.org/drawingml/2006/table">
            <a:tbl>
              <a:tblPr/>
              <a:tblGrid>
                <a:gridCol w="1520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AI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– First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time saved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[Task 2 — time / run]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time saved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566928" y="3977640"/>
            <a:ext cx="8010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benefit is the time saved  between 75% to  80% and similar low error rate less that 5% which is required for the payments reconciliation process in accounting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 &amp; Scale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109728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reusable?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4008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reusable the agent and system prompts, if in the future the policy changes then the agent will pick the new policy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14300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534924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adopt it?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accountant that want to get some help on reconciling data with high accuracy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" y="292608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109728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package?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640080" y="335584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EXPLORATION.md,  final analysis in REFLECTION.md, video of the demo of the agent, ESCALATION.md and REFLECION.md for payment csv processed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709160" y="278892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46320" y="292608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4632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/>
          </a:p>
        </p:txBody>
      </p:sp>
      <p:sp>
        <p:nvSpPr>
          <p:cNvPr id="22" name="Text 19"/>
          <p:cNvSpPr/>
          <p:nvPr/>
        </p:nvSpPr>
        <p:spPr>
          <a:xfrm>
            <a:off x="53492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Org-scale potential</a:t>
            </a:r>
            <a:endParaRPr lang="en-US" sz="1400"/>
          </a:p>
        </p:txBody>
      </p:sp>
      <p:sp>
        <p:nvSpPr>
          <p:cNvPr id="23" name="Text 20"/>
          <p:cNvSpPr/>
          <p:nvPr/>
        </p:nvSpPr>
        <p:spPr>
          <a:xfrm>
            <a:off x="4892040" y="335584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adopted mostly time will be saved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Right &amp; What It Got Wrong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1792" y="1463040"/>
            <a:ext cx="411480" cy="41148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RIGHT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1188720" y="16002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got right the Happy path and different Error scenarios by adapting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350008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1792" y="2670048"/>
            <a:ext cx="411480" cy="411480"/>
          </a:xfrm>
          <a:prstGeom prst="ellipse">
            <a:avLst/>
          </a:prstGeom>
          <a:solidFill>
            <a:srgbClr val="FE3A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88720" y="2441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E3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WRONG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1188720" y="280720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probabilistic nature of the AI, sometime changes the reasoning which impacts consistency and details provided however the payment classification is consistent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3557016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1792" y="3877056"/>
            <a:ext cx="411480" cy="411480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88720" y="3648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corrected manually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1188720" y="401421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prompts to induce the AI for certain formatting and consistent reporting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consistency in a critical module was the hardest part and what required the most time from myself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Artifacts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attachments — the proof behind every claim</a:t>
            </a:r>
            <a:endParaRPr lang="en-US" sz="120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 link(s) / merged commits</a:t>
            </a:r>
            <a:endParaRPr lang="en-US" sz="1150"/>
          </a:p>
        </p:txBody>
      </p:sp>
      <p:sp>
        <p:nvSpPr>
          <p:cNvPr id="6" name="Shape 3"/>
          <p:cNvSpPr/>
          <p:nvPr/>
        </p:nvSpPr>
        <p:spPr>
          <a:xfrm>
            <a:off x="2423160" y="14173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532888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https://github.com/juanfeReyes/road-to-master/pull/75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0916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Design docs / demo recording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6675120" y="14173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84848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https://github.com/juanfeReyes/road-to-master/tree/main/data/llm/L2_Case03_Payment_Reconciliation_Agent/data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Prompt log / agent transcript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2423160" y="228600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32888" y="22860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https://github.com/juanfeReyes/road-to-master/tree/main/data/llm/L2_Case03_Payment_Reconciliation_Agent/starter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0916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Screenshots on the slides above</a:t>
            </a:r>
            <a:endParaRPr lang="en-US" sz="1150"/>
          </a:p>
        </p:txBody>
      </p:sp>
      <p:sp>
        <p:nvSpPr>
          <p:cNvPr id="15" name="Shape 12"/>
          <p:cNvSpPr/>
          <p:nvPr/>
        </p:nvSpPr>
        <p:spPr>
          <a:xfrm>
            <a:off x="6675120" y="228600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84848" y="22860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Validator</a:t>
            </a:r>
            <a:endParaRPr lang="en-US" sz="1400"/>
          </a:p>
        </p:txBody>
      </p:sp>
      <p:sp>
        <p:nvSpPr>
          <p:cNvPr id="19" name="Text 16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→ client PM / Account Lead   ·   Option 2 → Platform Leader / Owner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      </a:t>
            </a: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      </a:t>
            </a: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— 5 Topics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scored 0–30. Demonstrate at least 3. Clear at 70 / 150.</a:t>
            </a:r>
            <a:endParaRPr lang="en-US" sz="12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00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Competency topic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earns top marks (25–30)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Development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discipline governs agent behaviour and hand-offs, not just a single file.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Development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Claude Code / Copilot (agent modes, CLI, skills) delivering working software.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Evaluation &amp; Interpretability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evaluation (LLM-as-judge, scored comparisons); data-grounded decisions.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Design, Orchestration &amp; Ops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/ multi-step orchestration with failure handling, recovery, observability.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Tool Integration &amp; Extensibility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agents via MCP servers, hooks, or custom skills/tools — secure and reusable.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71D8C5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Distinction  25–30</a:t>
            </a:r>
            <a:endParaRPr lang="en-US" sz="1000"/>
          </a:p>
        </p:txBody>
      </p:sp>
      <p:sp>
        <p:nvSpPr>
          <p:cNvPr id="8" name="Shape 4"/>
          <p:cNvSpPr/>
          <p:nvPr/>
        </p:nvSpPr>
        <p:spPr>
          <a:xfrm>
            <a:off x="2532888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C5DCEE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532888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 18–24</a:t>
            </a:r>
            <a:endParaRPr lang="en-US" sz="1000"/>
          </a:p>
        </p:txBody>
      </p:sp>
      <p:sp>
        <p:nvSpPr>
          <p:cNvPr id="10" name="Shape 6"/>
          <p:cNvSpPr/>
          <p:nvPr/>
        </p:nvSpPr>
        <p:spPr>
          <a:xfrm>
            <a:off x="4608576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DFE7ED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7"/>
          <p:cNvSpPr/>
          <p:nvPr/>
        </p:nvSpPr>
        <p:spPr>
          <a:xfrm>
            <a:off x="4608576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 10–17</a:t>
            </a:r>
            <a:endParaRPr lang="en-US" sz="1000"/>
          </a:p>
        </p:txBody>
      </p:sp>
      <p:sp>
        <p:nvSpPr>
          <p:cNvPr id="12" name="Shape 8"/>
          <p:cNvSpPr/>
          <p:nvPr/>
        </p:nvSpPr>
        <p:spPr>
          <a:xfrm>
            <a:off x="6684264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684264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 0–9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Self-Rating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topic you demonstrated (0–30). Leave blank if not used (min 3 required).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2801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Spec-Driven Development</a:t>
            </a:r>
            <a:endParaRPr lang="en-US" sz="1250"/>
          </a:p>
        </p:txBody>
      </p:sp>
      <p:sp>
        <p:nvSpPr>
          <p:cNvPr id="7" name="Shape 4"/>
          <p:cNvSpPr/>
          <p:nvPr/>
        </p:nvSpPr>
        <p:spPr>
          <a:xfrm>
            <a:off x="7543800" y="1280160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43800" y="12801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__0__ / 30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81051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AI-Powered Development</a:t>
            </a:r>
            <a:endParaRPr lang="en-US" sz="1250"/>
          </a:p>
        </p:txBody>
      </p:sp>
      <p:sp>
        <p:nvSpPr>
          <p:cNvPr id="11" name="Shape 8"/>
          <p:cNvSpPr/>
          <p:nvPr/>
        </p:nvSpPr>
        <p:spPr>
          <a:xfrm>
            <a:off x="7543800" y="1810512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43800" y="181051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__20__ / 30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340864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234086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LLM Evaluation &amp; Interpretability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7543800" y="2340864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43800" y="23408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__17__ / 30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871216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287121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Agent Design, Orchestration &amp; Ops</a:t>
            </a:r>
            <a:endParaRPr lang="en-US" sz="1250"/>
          </a:p>
        </p:txBody>
      </p:sp>
      <p:sp>
        <p:nvSpPr>
          <p:cNvPr id="19" name="Shape 16"/>
          <p:cNvSpPr/>
          <p:nvPr/>
        </p:nvSpPr>
        <p:spPr>
          <a:xfrm>
            <a:off x="7543800" y="287121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543800" y="2871216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_20___ / 30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401568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34015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AI Tool Integration &amp; Extensibility</a:t>
            </a:r>
            <a:endParaRPr lang="en-US" sz="1250"/>
          </a:p>
        </p:txBody>
      </p:sp>
      <p:sp>
        <p:nvSpPr>
          <p:cNvPr id="23" name="Shape 20"/>
          <p:cNvSpPr/>
          <p:nvPr/>
        </p:nvSpPr>
        <p:spPr>
          <a:xfrm>
            <a:off x="7543800" y="3401568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543800" y="340156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__18__ / 30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total:  __75__ / 150</a:t>
            </a:r>
            <a:r>
              <a:rPr lang="en-US" sz="1200" dirty="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Clear = 70+     (I demonstrated ____ of 5 topics)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Key Takeaway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these sentences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37160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 was not sure on how to make AI to provide consistent processing on critical systems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6928" y="192024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 know it is a tool that is capable of being in critical systems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biggest learning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288036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a consistent system capable to adapt to different scenarios given the probabilistic nature of the AI models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520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using AI at work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457200" y="3794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30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_5_ /10        </a:t>
            </a:r>
            <a:r>
              <a:rPr lang="en-US" sz="13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r>
              <a:rPr lang="en-US" sz="1300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_8_ /10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09160" y="3520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tip for the next cohort</a:t>
            </a:r>
            <a:endParaRPr lang="en-US" sz="1200"/>
          </a:p>
        </p:txBody>
      </p:sp>
      <p:sp>
        <p:nvSpPr>
          <p:cNvPr id="15" name="Shape 12"/>
          <p:cNvSpPr/>
          <p:nvPr/>
        </p:nvSpPr>
        <p:spPr>
          <a:xfrm>
            <a:off x="4709160" y="379476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18888" y="379476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edge scenarios and controlling the </a:t>
            </a:r>
            <a:r>
              <a:rPr lang="en-US" sz="1100" i="1" dirty="0" err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allucinations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Perficient Global AI First Academy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5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Validation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use only</a:t>
            </a:r>
            <a:endParaRPr lang="en-US" sz="13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65760"/>
            <a:ext cx="1097280" cy="2526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258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Spec-Driven Development</a:t>
            </a:r>
            <a:endParaRPr lang="en-US" sz="1250"/>
          </a:p>
        </p:txBody>
      </p:sp>
      <p:sp>
        <p:nvSpPr>
          <p:cNvPr id="6" name="Shape 3"/>
          <p:cNvSpPr/>
          <p:nvPr/>
        </p:nvSpPr>
        <p:spPr>
          <a:xfrm>
            <a:off x="7543800" y="13258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43800" y="13258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AI-Powered Development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7543800" y="17830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43800" y="17830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57200" y="22402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LLM Evaluation &amp; Interpretability</a:t>
            </a:r>
            <a:endParaRPr lang="en-US" sz="1250"/>
          </a:p>
        </p:txBody>
      </p:sp>
      <p:sp>
        <p:nvSpPr>
          <p:cNvPr id="12" name="Shape 9"/>
          <p:cNvSpPr/>
          <p:nvPr/>
        </p:nvSpPr>
        <p:spPr>
          <a:xfrm>
            <a:off x="7543800" y="22402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543800" y="22402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Agent Design, Orchestration &amp; Ops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7543800" y="26974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43800" y="26974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457200" y="31546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AI Tool Integration &amp; Extensibility</a:t>
            </a:r>
            <a:endParaRPr lang="en-US" sz="1250"/>
          </a:p>
        </p:txBody>
      </p:sp>
      <p:sp>
        <p:nvSpPr>
          <p:cNvPr id="18" name="Shape 15"/>
          <p:cNvSpPr/>
          <p:nvPr/>
        </p:nvSpPr>
        <p:spPr>
          <a:xfrm>
            <a:off x="7543800" y="31546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543800" y="31546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457200" y="36301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total:  ____ / 150</a:t>
            </a:r>
            <a:r>
              <a:rPr lang="en-US" sz="120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Clear = 70+</a:t>
            </a:r>
            <a:endParaRPr lang="en-US" sz="150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Yes, Agree — certify</a:t>
            </a:r>
            <a:endParaRPr lang="en-US" sz="1200"/>
          </a:p>
        </p:txBody>
      </p:sp>
      <p:sp>
        <p:nvSpPr>
          <p:cNvPr id="23" name="Shape 20"/>
          <p:cNvSpPr/>
          <p:nvPr/>
        </p:nvSpPr>
        <p:spPr>
          <a:xfrm>
            <a:off x="3291840" y="41148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E3A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9184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E3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No, Do not certify</a:t>
            </a:r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6126480" y="41788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signature: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     </a:t>
            </a: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1050"/>
          </a:p>
        </p:txBody>
      </p:sp>
      <p:sp>
        <p:nvSpPr>
          <p:cNvPr id="26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is issued only on "Yes, Agree". A score ≥ 70 is a recommendation, not automatic certification.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6f94d6-fa4c-4578-9923-387e8e08487a">
      <Terms xmlns="http://schemas.microsoft.com/office/infopath/2007/PartnerControls"/>
    </lcf76f155ced4ddcb4097134ff3c332f>
    <TaxCatchAll xmlns="7a392144-d9c7-4700-81e3-5d9ccc7560d2" xsi:nil="true"/>
    <Fecha_x002f_hora xmlns="726f94d6-fa4c-4578-9923-387e8e08487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8BDE5FBDD49645B4C97074EE65F842" ma:contentTypeVersion="12" ma:contentTypeDescription="Create a new document." ma:contentTypeScope="" ma:versionID="5312b329c996433ceb2b53c55abbd94c">
  <xsd:schema xmlns:xsd="http://www.w3.org/2001/XMLSchema" xmlns:xs="http://www.w3.org/2001/XMLSchema" xmlns:p="http://schemas.microsoft.com/office/2006/metadata/properties" xmlns:ns2="726f94d6-fa4c-4578-9923-387e8e08487a" xmlns:ns3="7a392144-d9c7-4700-81e3-5d9ccc7560d2" targetNamespace="http://schemas.microsoft.com/office/2006/metadata/properties" ma:root="true" ma:fieldsID="4c00a87271a249586203d6baa24a7578" ns2:_="" ns3:_="">
    <xsd:import namespace="726f94d6-fa4c-4578-9923-387e8e08487a"/>
    <xsd:import namespace="7a392144-d9c7-4700-81e3-5d9ccc7560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Fecha_x002f_hor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f94d6-fa4c-4578-9923-387e8e0848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398e266-1b5a-423d-aa71-fcb68a1b75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Fecha_x002f_hora" ma:index="19" nillable="true" ma:displayName="Fecha/hora" ma:format="DateTime" ma:internalName="Fecha_x002f_hora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392144-d9c7-4700-81e3-5d9ccc7560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4c2efa-4133-4b24-8c74-08d4563e1292}" ma:internalName="TaxCatchAll" ma:showField="CatchAllData" ma:web="7a392144-d9c7-4700-81e3-5d9ccc7560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7FDC5A-70C0-4588-82CA-E8B6F6B3A12D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7a392144-d9c7-4700-81e3-5d9ccc7560d2"/>
    <ds:schemaRef ds:uri="726f94d6-fa4c-4578-9923-387e8e08487a"/>
  </ds:schemaRefs>
</ds:datastoreItem>
</file>

<file path=customXml/itemProps2.xml><?xml version="1.0" encoding="utf-8"?>
<ds:datastoreItem xmlns:ds="http://schemas.openxmlformats.org/officeDocument/2006/customXml" ds:itemID="{D68DD810-7AED-43B6-BB17-F254283372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674E81-17EB-43AD-A4DC-3DD0F2DF9E2A}">
  <ds:schemaRefs>
    <ds:schemaRef ds:uri="726f94d6-fa4c-4578-9923-387e8e08487a"/>
    <ds:schemaRef ds:uri="7a392144-d9c7-4700-81e3-5d9ccc7560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1294</Words>
  <Application>Microsoft Office PowerPoint</Application>
  <PresentationFormat>On-screen Show (16:9)</PresentationFormat>
  <Paragraphs>196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Reyes Garcia</cp:lastModifiedBy>
  <cp:revision>3</cp:revision>
  <dcterms:created xsi:type="dcterms:W3CDTF">2026-07-11T21:26:25Z</dcterms:created>
  <dcterms:modified xsi:type="dcterms:W3CDTF">2026-10-29T23:43:45Z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0x010100178BDE5FBDD49645B4C97074EE65F842</vt:lpwstr>
  </property>
  <property fmtid="{D5CDD505-2E9C-101B-9397-08002B2CF9AE}" pid="3" name="MediaServiceImageTags">
    <vt:lpwstr/>
  </property>
</Properties>
</file>